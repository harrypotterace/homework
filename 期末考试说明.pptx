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6" r:id="rId1"/>
    <p:sldMasterId id="2147483668" r:id="rId2"/>
  </p:sldMasterIdLst>
  <p:notesMasterIdLst>
    <p:notesMasterId r:id="rId12"/>
  </p:notesMasterIdLst>
  <p:handoutMasterIdLst>
    <p:handoutMasterId r:id="rId13"/>
  </p:handoutMasterIdLst>
  <p:sldIdLst>
    <p:sldId id="497" r:id="rId3"/>
    <p:sldId id="1036" r:id="rId4"/>
    <p:sldId id="1042" r:id="rId5"/>
    <p:sldId id="1045" r:id="rId6"/>
    <p:sldId id="1046" r:id="rId7"/>
    <p:sldId id="1037" r:id="rId8"/>
    <p:sldId id="1038" r:id="rId9"/>
    <p:sldId id="1039" r:id="rId10"/>
    <p:sldId id="521" r:id="rId11"/>
  </p:sldIdLst>
  <p:sldSz cx="12195175" cy="6859588"/>
  <p:notesSz cx="9942513" cy="6761163"/>
  <p:defaultTextStyle>
    <a:defPPr>
      <a:defRPr lang="ko-KR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 panose="02010609030101010101" pitchFamily="49" charset="-122"/>
        <a:ea typeface="楷体_GB2312" panose="0201060903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 panose="02010609030101010101" pitchFamily="49" charset="-122"/>
        <a:ea typeface="楷体_GB2312" panose="0201060903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 panose="02010609030101010101" pitchFamily="49" charset="-122"/>
        <a:ea typeface="楷体_GB2312" panose="0201060903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 panose="02010609030101010101" pitchFamily="49" charset="-122"/>
        <a:ea typeface="楷体_GB2312" panose="0201060903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 panose="02010609030101010101" pitchFamily="49" charset="-122"/>
        <a:ea typeface="楷体_GB2312" panose="02010609030101010101" pitchFamily="49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楷体_GB2312" panose="02010609030101010101" pitchFamily="49" charset="-122"/>
        <a:ea typeface="楷体_GB2312" panose="02010609030101010101" pitchFamily="49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楷体_GB2312" panose="02010609030101010101" pitchFamily="49" charset="-122"/>
        <a:ea typeface="楷体_GB2312" panose="02010609030101010101" pitchFamily="49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楷体_GB2312" panose="02010609030101010101" pitchFamily="49" charset="-122"/>
        <a:ea typeface="楷体_GB2312" panose="02010609030101010101" pitchFamily="49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楷体_GB2312" panose="02010609030101010101" pitchFamily="49" charset="-122"/>
        <a:ea typeface="楷体_GB2312" panose="0201060903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5" userDrawn="1">
          <p15:clr>
            <a:srgbClr val="A4A3A4"/>
          </p15:clr>
        </p15:guide>
        <p15:guide id="2" orient="horz" pos="2314" userDrawn="1">
          <p15:clr>
            <a:srgbClr val="A4A3A4"/>
          </p15:clr>
        </p15:guide>
        <p15:guide id="3" userDrawn="1">
          <p15:clr>
            <a:srgbClr val="A4A3A4"/>
          </p15:clr>
        </p15:guide>
        <p15:guide id="4" pos="7682" userDrawn="1">
          <p15:clr>
            <a:srgbClr val="A4A3A4"/>
          </p15:clr>
        </p15:guide>
        <p15:guide id="5" pos="3842" userDrawn="1">
          <p15:clr>
            <a:srgbClr val="A4A3A4"/>
          </p15:clr>
        </p15:guide>
        <p15:guide id="6" pos="2124" userDrawn="1">
          <p15:clr>
            <a:srgbClr val="A4A3A4"/>
          </p15:clr>
        </p15:guide>
        <p15:guide id="7" pos="1085" userDrawn="1">
          <p15:clr>
            <a:srgbClr val="A4A3A4"/>
          </p15:clr>
        </p15:guide>
        <p15:guide id="8" pos="57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5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281">
          <p15:clr>
            <a:srgbClr val="A4A3A4"/>
          </p15:clr>
        </p15:guide>
        <p15:guide id="4" pos="31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D0DFF4"/>
    <a:srgbClr val="BAC6E4"/>
    <a:srgbClr val="76AAF6"/>
    <a:srgbClr val="C7D5EA"/>
    <a:srgbClr val="285ABA"/>
    <a:srgbClr val="DAE8FC"/>
    <a:srgbClr val="FF6600"/>
    <a:srgbClr val="79AEF7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79" autoAdjust="0"/>
    <p:restoredTop sz="95883" autoAdjust="0"/>
  </p:normalViewPr>
  <p:slideViewPr>
    <p:cSldViewPr snapToGrid="0">
      <p:cViewPr varScale="1">
        <p:scale>
          <a:sx n="83" d="100"/>
          <a:sy n="83" d="100"/>
        </p:scale>
        <p:origin x="48" y="156"/>
      </p:cViewPr>
      <p:guideLst>
        <p:guide orient="horz" pos="725"/>
        <p:guide orient="horz" pos="2314"/>
        <p:guide/>
        <p:guide pos="7682"/>
        <p:guide pos="3842"/>
        <p:guide pos="2124"/>
        <p:guide pos="1085"/>
        <p:guide pos="575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-2184" y="-96"/>
      </p:cViewPr>
      <p:guideLst>
        <p:guide orient="horz" pos="3085"/>
        <p:guide pos="2160"/>
        <p:guide orient="horz" pos="2281"/>
        <p:guide pos="31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8422" cy="338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0" latinLnBrk="1" hangingPunct="0">
              <a:lnSpc>
                <a:spcPct val="140000"/>
              </a:lnSpc>
              <a:spcBef>
                <a:spcPct val="20000"/>
              </a:spcBef>
              <a:buFontTx/>
              <a:buChar char="•"/>
              <a:defRPr sz="1200" u="none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1790" y="0"/>
            <a:ext cx="4308422" cy="338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latinLnBrk="1" hangingPunct="0">
              <a:lnSpc>
                <a:spcPct val="140000"/>
              </a:lnSpc>
              <a:spcBef>
                <a:spcPct val="20000"/>
              </a:spcBef>
              <a:buFontTx/>
              <a:buChar char="•"/>
              <a:defRPr sz="1200" u="none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80FFF32-AC1E-4AE3-B62A-E31DDD9BF023}" type="datetimeFigureOut">
              <a:rPr lang="zh-CN" altLang="en-US"/>
              <a:pPr>
                <a:defRPr/>
              </a:pPr>
              <a:t>2026/6/18</a:t>
            </a:fld>
            <a:endParaRPr lang="en-US" altLang="zh-CN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21932"/>
            <a:ext cx="4308422" cy="338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0" latinLnBrk="1" hangingPunct="0">
              <a:lnSpc>
                <a:spcPct val="140000"/>
              </a:lnSpc>
              <a:spcBef>
                <a:spcPct val="20000"/>
              </a:spcBef>
              <a:buFontTx/>
              <a:buChar char="•"/>
              <a:defRPr sz="1200" u="none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1790" y="6421932"/>
            <a:ext cx="4308422" cy="338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latinLnBrk="1" hangingPunct="0">
              <a:lnSpc>
                <a:spcPct val="140000"/>
              </a:lnSpc>
              <a:spcBef>
                <a:spcPct val="20000"/>
              </a:spcBef>
              <a:buFontTx/>
              <a:buChar char="•"/>
              <a:defRPr sz="1200" u="none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BAFCEC5-80F7-4F4F-93E6-8730BC742D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86144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8422" cy="338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latin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 u="none">
                <a:latin typeface="Gulim" pitchFamily="34" charset="-127"/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1790" y="0"/>
            <a:ext cx="4308422" cy="338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latin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 u="none">
                <a:latin typeface="Gulim" pitchFamily="34" charset="-127"/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17800" y="506413"/>
            <a:ext cx="4506913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252" y="3211553"/>
            <a:ext cx="7954010" cy="30425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21932"/>
            <a:ext cx="4308422" cy="338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latin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 u="none">
                <a:latin typeface="Gulim" pitchFamily="34" charset="-127"/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1790" y="6421932"/>
            <a:ext cx="4308422" cy="338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latin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 u="none">
                <a:latin typeface="Gulim" pitchFamily="34" charset="-127"/>
                <a:ea typeface="Gulim" pitchFamily="34" charset="-127"/>
              </a:defRPr>
            </a:lvl1pPr>
          </a:lstStyle>
          <a:p>
            <a:pPr>
              <a:defRPr/>
            </a:pPr>
            <a:fld id="{DB68233D-FD5E-4C3A-8E7D-A5D8B135EC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340371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717800" y="506413"/>
            <a:ext cx="4506913" cy="25368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68233D-FD5E-4C3A-8E7D-A5D8B135ECCC}" type="slidenum">
              <a:rPr lang="en-US" altLang="ko-KR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1255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717800" y="506413"/>
            <a:ext cx="4506913" cy="25368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68233D-FD5E-4C3A-8E7D-A5D8B135ECCC}" type="slidenum">
              <a:rPr lang="en-US" altLang="ko-KR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3176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397" y="1122623"/>
            <a:ext cx="9146381" cy="2388153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397" y="3602872"/>
            <a:ext cx="9146381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91" indent="0" algn="ctr">
              <a:buNone/>
              <a:defRPr sz="2000"/>
            </a:lvl2pPr>
            <a:lvl3pPr marL="914583" indent="0" algn="ctr">
              <a:buNone/>
              <a:defRPr sz="1800"/>
            </a:lvl3pPr>
            <a:lvl4pPr marL="1371874" indent="0" algn="ctr">
              <a:buNone/>
              <a:defRPr sz="1600"/>
            </a:lvl4pPr>
            <a:lvl5pPr marL="1829166" indent="0" algn="ctr">
              <a:buNone/>
              <a:defRPr sz="1600"/>
            </a:lvl5pPr>
            <a:lvl6pPr marL="2286457" indent="0" algn="ctr">
              <a:buNone/>
              <a:defRPr sz="1600"/>
            </a:lvl6pPr>
            <a:lvl7pPr marL="2743749" indent="0" algn="ctr">
              <a:buNone/>
              <a:defRPr sz="1600"/>
            </a:lvl7pPr>
            <a:lvl8pPr marL="3201040" indent="0" algn="ctr">
              <a:buNone/>
              <a:defRPr sz="1600"/>
            </a:lvl8pPr>
            <a:lvl9pPr marL="3658332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24" eaLnBrk="0" hangingPunct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24" eaLnBrk="0" hangingPunct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24" eaLnBrk="0" hangingPunct="0">
              <a:defRPr/>
            </a:pPr>
            <a:fld id="{84570E2D-5034-49A2-8117-B4BC4D73E696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defTabSz="914324" eaLnBrk="0" hangingPunct="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3987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067" y="1710134"/>
            <a:ext cx="10518338" cy="2853398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067" y="4590526"/>
            <a:ext cx="10518338" cy="15005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9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58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87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9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4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7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5573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418" y="1826048"/>
            <a:ext cx="5182949" cy="435234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808" y="1826048"/>
            <a:ext cx="5182949" cy="435234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60740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007" y="365210"/>
            <a:ext cx="10518338" cy="132587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7" y="1681552"/>
            <a:ext cx="5159130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7" y="2505655"/>
            <a:ext cx="5159130" cy="3685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807" y="1681552"/>
            <a:ext cx="5184538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807" y="2505655"/>
            <a:ext cx="5184538" cy="3685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6633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24" eaLnBrk="0" hangingPunct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24" eaLnBrk="0" hangingPunct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24" eaLnBrk="0" hangingPunct="0">
              <a:defRPr/>
            </a:pPr>
            <a:fld id="{84570E2D-5034-49A2-8117-B4BC4D73E696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defTabSz="914324" eaLnBrk="0" hangingPunct="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6386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548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>
              <a:defRPr sz="32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58463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538" y="987654"/>
            <a:ext cx="6173807" cy="4874754"/>
          </a:xfrm>
        </p:spPr>
        <p:txBody>
          <a:bodyPr anchor="t"/>
          <a:lstStyle>
            <a:lvl1pPr marL="0" indent="0">
              <a:buNone/>
              <a:defRPr sz="3201"/>
            </a:lvl1pPr>
            <a:lvl2pPr marL="457291" indent="0">
              <a:buNone/>
              <a:defRPr sz="2801"/>
            </a:lvl2pPr>
            <a:lvl3pPr marL="914583" indent="0">
              <a:buNone/>
              <a:defRPr sz="2400"/>
            </a:lvl3pPr>
            <a:lvl4pPr marL="1371874" indent="0">
              <a:buNone/>
              <a:defRPr sz="2000"/>
            </a:lvl4pPr>
            <a:lvl5pPr marL="1829166" indent="0">
              <a:buNone/>
              <a:defRPr sz="2000"/>
            </a:lvl5pPr>
            <a:lvl6pPr marL="2286457" indent="0">
              <a:buNone/>
              <a:defRPr sz="2000"/>
            </a:lvl6pPr>
            <a:lvl7pPr marL="2743749" indent="0">
              <a:buNone/>
              <a:defRPr sz="2000"/>
            </a:lvl7pPr>
            <a:lvl8pPr marL="3201040" indent="0">
              <a:buNone/>
              <a:defRPr sz="2000"/>
            </a:lvl8pPr>
            <a:lvl9pPr marL="3658332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1771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63468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7172" y="365209"/>
            <a:ext cx="2629585" cy="581318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418" y="365209"/>
            <a:ext cx="7736314" cy="581318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46448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397" y="1122623"/>
            <a:ext cx="9146381" cy="2388153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397" y="3602872"/>
            <a:ext cx="9146381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91" indent="0" algn="ctr">
              <a:buNone/>
              <a:defRPr sz="2000"/>
            </a:lvl2pPr>
            <a:lvl3pPr marL="914583" indent="0" algn="ctr">
              <a:buNone/>
              <a:defRPr sz="1800"/>
            </a:lvl3pPr>
            <a:lvl4pPr marL="1371874" indent="0" algn="ctr">
              <a:buNone/>
              <a:defRPr sz="1600"/>
            </a:lvl4pPr>
            <a:lvl5pPr marL="1829166" indent="0" algn="ctr">
              <a:buNone/>
              <a:defRPr sz="1600"/>
            </a:lvl5pPr>
            <a:lvl6pPr marL="2286457" indent="0" algn="ctr">
              <a:buNone/>
              <a:defRPr sz="1600"/>
            </a:lvl6pPr>
            <a:lvl7pPr marL="2743749" indent="0" algn="ctr">
              <a:buNone/>
              <a:defRPr sz="1600"/>
            </a:lvl7pPr>
            <a:lvl8pPr marL="3201040" indent="0" algn="ctr">
              <a:buNone/>
              <a:defRPr sz="1600"/>
            </a:lvl8pPr>
            <a:lvl9pPr marL="3658332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20544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8987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067" y="1710134"/>
            <a:ext cx="10518338" cy="2853398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067" y="4590526"/>
            <a:ext cx="10518338" cy="15005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9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58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87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9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4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7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8965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418" y="1826048"/>
            <a:ext cx="5182949" cy="435234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808" y="1826048"/>
            <a:ext cx="5182949" cy="435234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79752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007" y="365210"/>
            <a:ext cx="10518338" cy="132587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7" y="1681552"/>
            <a:ext cx="5159130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7" y="2505655"/>
            <a:ext cx="5159130" cy="3685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807" y="1681552"/>
            <a:ext cx="5184538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807" y="2505655"/>
            <a:ext cx="5184538" cy="3685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43145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473573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116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>
              <a:defRPr sz="32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25003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538" y="987654"/>
            <a:ext cx="6173807" cy="4874754"/>
          </a:xfrm>
        </p:spPr>
        <p:txBody>
          <a:bodyPr anchor="t"/>
          <a:lstStyle>
            <a:lvl1pPr marL="0" indent="0">
              <a:buNone/>
              <a:defRPr sz="3201"/>
            </a:lvl1pPr>
            <a:lvl2pPr marL="457291" indent="0">
              <a:buNone/>
              <a:defRPr sz="2801"/>
            </a:lvl2pPr>
            <a:lvl3pPr marL="914583" indent="0">
              <a:buNone/>
              <a:defRPr sz="2400"/>
            </a:lvl3pPr>
            <a:lvl4pPr marL="1371874" indent="0">
              <a:buNone/>
              <a:defRPr sz="2000"/>
            </a:lvl4pPr>
            <a:lvl5pPr marL="1829166" indent="0">
              <a:buNone/>
              <a:defRPr sz="2000"/>
            </a:lvl5pPr>
            <a:lvl6pPr marL="2286457" indent="0">
              <a:buNone/>
              <a:defRPr sz="2000"/>
            </a:lvl6pPr>
            <a:lvl7pPr marL="2743749" indent="0">
              <a:buNone/>
              <a:defRPr sz="2000"/>
            </a:lvl7pPr>
            <a:lvl8pPr marL="3201040" indent="0">
              <a:buNone/>
              <a:defRPr sz="2000"/>
            </a:lvl8pPr>
            <a:lvl9pPr marL="3658332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115794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49371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7172" y="365209"/>
            <a:ext cx="2629585" cy="581318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418" y="365209"/>
            <a:ext cx="7736314" cy="581318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8221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419" y="365210"/>
            <a:ext cx="10518338" cy="1325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419" y="1826048"/>
            <a:ext cx="10518338" cy="4352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418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652" y="6357822"/>
            <a:ext cx="4115872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2843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 Box 79">
            <a:extLst>
              <a:ext uri="{FF2B5EF4-FFF2-40B4-BE49-F238E27FC236}">
                <a16:creationId xmlns:a16="http://schemas.microsoft.com/office/drawing/2014/main" id="{6B3CF49C-E62B-4B1C-8372-A0C87B8A4C2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071" y="1150941"/>
            <a:ext cx="10800170" cy="54476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atinLnBrk="1">
              <a:spcBef>
                <a:spcPct val="50000"/>
              </a:spcBef>
              <a:defRPr/>
            </a:pPr>
            <a:endParaRPr lang="zh-CN" altLang="en-US" sz="240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latinLnBrk="1">
              <a:spcBef>
                <a:spcPct val="50000"/>
              </a:spcBef>
              <a:defRPr/>
            </a:pPr>
            <a:endParaRPr lang="zh-CN" altLang="en-US" sz="240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latinLnBrk="1">
              <a:spcBef>
                <a:spcPct val="50000"/>
              </a:spcBef>
              <a:defRPr/>
            </a:pPr>
            <a:endParaRPr lang="zh-CN" altLang="en-US" sz="240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latinLnBrk="1">
              <a:spcBef>
                <a:spcPct val="50000"/>
              </a:spcBef>
              <a:defRPr/>
            </a:pPr>
            <a:endParaRPr lang="zh-CN" altLang="en-US" sz="240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latinLnBrk="1">
              <a:spcBef>
                <a:spcPct val="50000"/>
              </a:spcBef>
              <a:defRPr/>
            </a:pPr>
            <a:endParaRPr lang="zh-CN" altLang="en-US" sz="240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latinLnBrk="1">
              <a:spcBef>
                <a:spcPct val="50000"/>
              </a:spcBef>
              <a:defRPr/>
            </a:pPr>
            <a:endParaRPr lang="zh-CN" altLang="en-US" sz="240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latinLnBrk="1">
              <a:spcBef>
                <a:spcPct val="50000"/>
              </a:spcBef>
              <a:defRPr/>
            </a:pPr>
            <a:endParaRPr lang="zh-CN" altLang="en-US" sz="240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latinLnBrk="1">
              <a:spcBef>
                <a:spcPct val="50000"/>
              </a:spcBef>
              <a:defRPr/>
            </a:pPr>
            <a:endParaRPr lang="zh-CN" altLang="en-US" sz="240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latinLnBrk="1">
              <a:spcBef>
                <a:spcPct val="50000"/>
              </a:spcBef>
              <a:defRPr/>
            </a:pPr>
            <a:endParaRPr lang="zh-CN" altLang="en-US" sz="240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latinLnBrk="1">
              <a:spcBef>
                <a:spcPct val="50000"/>
              </a:spcBef>
              <a:defRPr/>
            </a:pPr>
            <a:endParaRPr lang="zh-CN" altLang="en-US" sz="240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1FEF017-1C1A-442A-85EA-D0606671B721}"/>
              </a:ext>
            </a:extLst>
          </p:cNvPr>
          <p:cNvGrpSpPr/>
          <p:nvPr userDrawn="1"/>
        </p:nvGrpSpPr>
        <p:grpSpPr>
          <a:xfrm>
            <a:off x="1" y="-3175"/>
            <a:ext cx="12195598" cy="897255"/>
            <a:chOff x="1" y="-3175"/>
            <a:chExt cx="12195598" cy="897255"/>
          </a:xfrm>
        </p:grpSpPr>
        <p:sp>
          <p:nvSpPr>
            <p:cNvPr id="8" name="Text Box 78">
              <a:extLst>
                <a:ext uri="{FF2B5EF4-FFF2-40B4-BE49-F238E27FC236}">
                  <a16:creationId xmlns:a16="http://schemas.microsoft.com/office/drawing/2014/main" id="{3F066D70-A92F-48B2-8BBF-BE49FA39C159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98985" y="188916"/>
              <a:ext cx="8664269" cy="6463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  <a:defRPr/>
              </a:pPr>
              <a:endParaRPr lang="zh-CN" altLang="en-US" sz="3600">
                <a:latin typeface="Arial Narrow" panose="020B060602020203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9" name="Picture 4" descr="图形1">
              <a:extLst>
                <a:ext uri="{FF2B5EF4-FFF2-40B4-BE49-F238E27FC236}">
                  <a16:creationId xmlns:a16="http://schemas.microsoft.com/office/drawing/2014/main" id="{CD7C97B2-FD4F-4119-AC78-2382B0B8CE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1" y="-3175"/>
              <a:ext cx="9744074" cy="896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4" descr="图形1">
              <a:extLst>
                <a:ext uri="{FF2B5EF4-FFF2-40B4-BE49-F238E27FC236}">
                  <a16:creationId xmlns:a16="http://schemas.microsoft.com/office/drawing/2014/main" id="{14A3C0BE-5007-4823-AC29-FB7538A7088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13" cstate="print"/>
            <a:srcRect l="46973"/>
            <a:stretch/>
          </p:blipFill>
          <p:spPr bwMode="auto">
            <a:xfrm>
              <a:off x="6690148" y="-3175"/>
              <a:ext cx="5505451" cy="896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AD7B240-22F8-4C53-A8A6-F55C05334BCB}"/>
                </a:ext>
              </a:extLst>
            </p:cNvPr>
            <p:cNvSpPr/>
            <p:nvPr userDrawn="1"/>
          </p:nvSpPr>
          <p:spPr>
            <a:xfrm>
              <a:off x="848" y="-3175"/>
              <a:ext cx="12194751" cy="897255"/>
            </a:xfrm>
            <a:prstGeom prst="rect">
              <a:avLst/>
            </a:prstGeom>
            <a:solidFill>
              <a:srgbClr val="3A6FFF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239452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hdr="0" ftr="0" dt="0"/>
  <p:txStyles>
    <p:titleStyle>
      <a:lvl1pPr algn="l" defTabSz="914583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46" indent="-228646" algn="l" defTabSz="91458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3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229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520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811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103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394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86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97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91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83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74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166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457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749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4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332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7">
            <a:extLst>
              <a:ext uri="{FF2B5EF4-FFF2-40B4-BE49-F238E27FC236}">
                <a16:creationId xmlns:a16="http://schemas.microsoft.com/office/drawing/2014/main" id="{8AAEFB16-449E-43DB-BF44-FE6F327CE2C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60"/>
          <a:stretch/>
        </p:blipFill>
        <p:spPr bwMode="auto">
          <a:xfrm>
            <a:off x="-6188" y="3"/>
            <a:ext cx="7127533" cy="6863951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7">
            <a:extLst>
              <a:ext uri="{FF2B5EF4-FFF2-40B4-BE49-F238E27FC236}">
                <a16:creationId xmlns:a16="http://schemas.microsoft.com/office/drawing/2014/main" id="{4BD2EB22-0732-4E66-8FE7-0EDE534F9D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419" y="3"/>
            <a:ext cx="9652632" cy="6863951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5120945-7A8D-4250-B5C1-C3F8026DED9A}"/>
              </a:ext>
            </a:extLst>
          </p:cNvPr>
          <p:cNvSpPr/>
          <p:nvPr userDrawn="1"/>
        </p:nvSpPr>
        <p:spPr>
          <a:xfrm>
            <a:off x="-11852" y="955676"/>
            <a:ext cx="12217613" cy="5911215"/>
          </a:xfrm>
          <a:prstGeom prst="rect">
            <a:avLst/>
          </a:prstGeom>
          <a:gradFill>
            <a:gsLst>
              <a:gs pos="8000">
                <a:schemeClr val="bg1">
                  <a:alpha val="17000"/>
                  <a:lumMod val="0"/>
                  <a:lumOff val="100000"/>
                </a:schemeClr>
              </a:gs>
              <a:gs pos="100000">
                <a:srgbClr val="E5F0FE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700174-5DC4-4769-9BF8-6FCA7DD31468}"/>
              </a:ext>
            </a:extLst>
          </p:cNvPr>
          <p:cNvSpPr/>
          <p:nvPr userDrawn="1"/>
        </p:nvSpPr>
        <p:spPr>
          <a:xfrm>
            <a:off x="-1778" y="939281"/>
            <a:ext cx="12200063" cy="54438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419" y="365210"/>
            <a:ext cx="10518338" cy="1325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419" y="1826048"/>
            <a:ext cx="10518338" cy="4352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5718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6952" y="6357822"/>
            <a:ext cx="4115872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2843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5" descr="E:\西安邮电大学校徽.规范\西安邮电大学标识9.png">
            <a:extLst>
              <a:ext uri="{FF2B5EF4-FFF2-40B4-BE49-F238E27FC236}">
                <a16:creationId xmlns:a16="http://schemas.microsoft.com/office/drawing/2014/main" id="{CB70B24C-55D4-480D-9885-DBC2D89624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0160479" y="515000"/>
            <a:ext cx="1731114" cy="3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073E98E-3DF6-4AFC-BB3E-00F30D9AB3E6}"/>
              </a:ext>
            </a:extLst>
          </p:cNvPr>
          <p:cNvSpPr/>
          <p:nvPr userDrawn="1"/>
        </p:nvSpPr>
        <p:spPr>
          <a:xfrm>
            <a:off x="-30059" y="3"/>
            <a:ext cx="12225234" cy="955675"/>
          </a:xfrm>
          <a:prstGeom prst="rect">
            <a:avLst/>
          </a:prstGeom>
          <a:solidFill>
            <a:srgbClr val="3A6FF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3805536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hdr="0" ftr="0" dt="0"/>
  <p:txStyles>
    <p:titleStyle>
      <a:lvl1pPr algn="l" defTabSz="914583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46" indent="-228646" algn="l" defTabSz="91458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3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229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520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811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103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394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86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97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91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83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74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166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457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749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4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332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C:\Users\Administrator\Desktop\4060998_124711043134_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2458720"/>
            <a:ext cx="12195175" cy="2133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5" descr="C:\Users\Administrator\Desktop\20131024142744-1947326255.jpg"/>
          <p:cNvPicPr>
            <a:picLocks noChangeAspect="1" noChangeArrowheads="1"/>
          </p:cNvPicPr>
          <p:nvPr/>
        </p:nvPicPr>
        <p:blipFill>
          <a:blip r:embed="rId4" cstate="screen">
            <a:lum contrast="10000"/>
          </a:blip>
          <a:srcRect/>
          <a:stretch>
            <a:fillRect/>
          </a:stretch>
        </p:blipFill>
        <p:spPr bwMode="auto">
          <a:xfrm>
            <a:off x="6124482" y="1688294"/>
            <a:ext cx="648587" cy="642942"/>
          </a:xfrm>
          <a:prstGeom prst="ellipse">
            <a:avLst/>
          </a:prstGeom>
          <a:noFill/>
          <a:ln w="19050">
            <a:solidFill>
              <a:srgbClr val="00B0F0"/>
            </a:solidFill>
            <a:prstDash val="solid"/>
          </a:ln>
          <a:effectLst/>
        </p:spPr>
      </p:pic>
      <p:pic>
        <p:nvPicPr>
          <p:cNvPr id="10" name="Picture 7" descr="C:\Users\Administrator\Desktop\20131024142721-588511792.jpg"/>
          <p:cNvPicPr>
            <a:picLocks noChangeAspect="1" noChangeArrowheads="1"/>
          </p:cNvPicPr>
          <p:nvPr/>
        </p:nvPicPr>
        <p:blipFill>
          <a:blip r:embed="rId5" cstate="screen">
            <a:lum contrast="10000"/>
          </a:blip>
          <a:srcRect/>
          <a:stretch>
            <a:fillRect/>
          </a:stretch>
        </p:blipFill>
        <p:spPr bwMode="auto">
          <a:xfrm>
            <a:off x="8887434" y="928671"/>
            <a:ext cx="1500198" cy="1458643"/>
          </a:xfrm>
          <a:prstGeom prst="ellipse">
            <a:avLst/>
          </a:prstGeom>
          <a:noFill/>
          <a:ln w="19050">
            <a:solidFill>
              <a:srgbClr val="00B0F0"/>
            </a:solidFill>
            <a:prstDash val="solid"/>
          </a:ln>
          <a:effectLst/>
        </p:spPr>
      </p:pic>
      <p:pic>
        <p:nvPicPr>
          <p:cNvPr id="11" name="Picture 8" descr="C:\Users\Administrator\Desktop\20131024143113-1582401295.jpg"/>
          <p:cNvPicPr>
            <a:picLocks noChangeAspect="1" noChangeArrowheads="1"/>
          </p:cNvPicPr>
          <p:nvPr/>
        </p:nvPicPr>
        <p:blipFill>
          <a:blip r:embed="rId6" cstate="screen">
            <a:lum contrast="10000"/>
          </a:blip>
          <a:srcRect/>
          <a:stretch>
            <a:fillRect/>
          </a:stretch>
        </p:blipFill>
        <p:spPr bwMode="auto">
          <a:xfrm>
            <a:off x="7350624" y="1094280"/>
            <a:ext cx="1003605" cy="1000132"/>
          </a:xfrm>
          <a:prstGeom prst="ellipse">
            <a:avLst/>
          </a:prstGeom>
          <a:noFill/>
          <a:ln w="19050">
            <a:solidFill>
              <a:srgbClr val="00B0F0"/>
            </a:solidFill>
            <a:prstDash val="solid"/>
          </a:ln>
          <a:effectLst/>
        </p:spPr>
      </p:pic>
      <p:pic>
        <p:nvPicPr>
          <p:cNvPr id="12" name="Picture 6" descr="C:\Users\Administrator\Desktop\13fc7c11ba1.jpg"/>
          <p:cNvPicPr>
            <a:picLocks noChangeAspect="1" noChangeArrowheads="1"/>
          </p:cNvPicPr>
          <p:nvPr/>
        </p:nvPicPr>
        <p:blipFill>
          <a:blip r:embed="rId7" cstate="screen">
            <a:lum contrast="10000"/>
          </a:blip>
          <a:srcRect/>
          <a:stretch>
            <a:fillRect/>
          </a:stretch>
        </p:blipFill>
        <p:spPr bwMode="auto">
          <a:xfrm>
            <a:off x="10103300" y="2549472"/>
            <a:ext cx="1951752" cy="1951098"/>
          </a:xfrm>
          <a:prstGeom prst="ellipse">
            <a:avLst/>
          </a:prstGeom>
          <a:noFill/>
          <a:ln w="19050">
            <a:solidFill>
              <a:srgbClr val="00B0F0"/>
            </a:solidFill>
            <a:prstDash val="solid"/>
          </a:ln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E8C42E-4B42-4DEE-A4B1-53C500A13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865" y="3073198"/>
            <a:ext cx="10520314" cy="9036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0" latinLnBrk="1" hangingPunct="0">
              <a:lnSpc>
                <a:spcPct val="120000"/>
              </a:lnSpc>
              <a:spcBef>
                <a:spcPts val="600"/>
              </a:spcBef>
            </a:pPr>
            <a:r>
              <a:rPr lang="zh-CN" altLang="en-US" sz="48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期末大作业说明</a:t>
            </a:r>
            <a:endParaRPr lang="en-US" altLang="zh-CN" sz="4800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0227CEB1-9F0D-4624-B107-89287F084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" y="252000"/>
            <a:ext cx="829899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  <a:sym typeface="+mn-ea"/>
              </a:rPr>
              <a:t>大作业题目</a:t>
            </a:r>
            <a:endParaRPr kumimoji="1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HarmonyOS Sans SC Medium" panose="00000600000000000000" pitchFamily="2" charset="-122"/>
              <a:ea typeface="HarmonyOS Sans SC Medium" panose="00000600000000000000" pitchFamily="2" charset="-122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3AFCE99-FDA9-4549-9C41-FE02CA4CEF77}"/>
              </a:ext>
            </a:extLst>
          </p:cNvPr>
          <p:cNvSpPr txBox="1">
            <a:spLocks/>
          </p:cNvSpPr>
          <p:nvPr/>
        </p:nvSpPr>
        <p:spPr>
          <a:xfrm>
            <a:off x="1476375" y="115888"/>
            <a:ext cx="6840538" cy="855662"/>
          </a:xfrm>
          <a:prstGeom prst="rect">
            <a:avLst/>
          </a:prstGeom>
        </p:spPr>
        <p:txBody>
          <a:bodyPr/>
          <a:lstStyle>
            <a:lvl1pPr algn="l" defTabSz="914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kumimoji="0" lang="zh-CN" altLang="en-US" sz="3600" b="1" dirty="0">
              <a:solidFill>
                <a:srgbClr val="CC0000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0366062-6618-49D8-97AE-C3E82E43D1AC}"/>
              </a:ext>
            </a:extLst>
          </p:cNvPr>
          <p:cNvSpPr txBox="1">
            <a:spLocks noChangeArrowheads="1"/>
          </p:cNvSpPr>
          <p:nvPr/>
        </p:nvSpPr>
        <p:spPr>
          <a:xfrm>
            <a:off x="838418" y="1133589"/>
            <a:ext cx="11158050" cy="5231699"/>
          </a:xfrm>
          <a:prstGeom prst="rect">
            <a:avLst/>
          </a:prstGeom>
        </p:spPr>
        <p:txBody>
          <a:bodyPr>
            <a:norm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fontAlgn="auto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en-US" altLang="zh-CN" sz="3200" dirty="0">
                <a:latin typeface="微软雅黑" panose="020B0503020204020204" pitchFamily="34" charset="-122"/>
              </a:rPr>
              <a:t>《</a:t>
            </a:r>
            <a:r>
              <a:rPr kumimoji="0" lang="zh-CN" altLang="en-US" sz="3200" dirty="0">
                <a:latin typeface="微软雅黑" panose="020B0503020204020204" pitchFamily="34" charset="-122"/>
              </a:rPr>
              <a:t>智慧校园心理辅导与情绪感知交互子系统设计与实现</a:t>
            </a:r>
            <a:r>
              <a:rPr kumimoji="0" lang="en-US" altLang="zh-CN" sz="3200" dirty="0">
                <a:latin typeface="微软雅黑" panose="020B0503020204020204" pitchFamily="34" charset="-122"/>
              </a:rPr>
              <a:t>》</a:t>
            </a:r>
          </a:p>
          <a:p>
            <a:pPr marL="514350" indent="-514350" fontAlgn="auto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en-US" altLang="zh-CN" sz="3200" dirty="0">
                <a:latin typeface="微软雅黑" panose="020B0503020204020204" pitchFamily="34" charset="-122"/>
              </a:rPr>
              <a:t>《</a:t>
            </a:r>
            <a:r>
              <a:rPr kumimoji="0" lang="zh-CN" altLang="zh-CN" sz="3200" dirty="0">
                <a:latin typeface="微软雅黑" panose="020B0503020204020204" pitchFamily="34" charset="-122"/>
              </a:rPr>
              <a:t>大作业报告</a:t>
            </a:r>
            <a:r>
              <a:rPr kumimoji="0" lang="en-US" altLang="zh-CN" sz="3200" dirty="0">
                <a:latin typeface="微软雅黑" panose="020B0503020204020204" pitchFamily="34" charset="-122"/>
              </a:rPr>
              <a:t>》</a:t>
            </a:r>
            <a:r>
              <a:rPr kumimoji="0" lang="zh-CN" altLang="en-US" sz="3200" dirty="0">
                <a:latin typeface="微软雅黑" panose="020B0503020204020204" pitchFamily="34" charset="-122"/>
              </a:rPr>
              <a:t>、源码和系统配置说明</a:t>
            </a:r>
            <a:endParaRPr kumimoji="0" lang="en-US" altLang="zh-CN" sz="3200" dirty="0">
              <a:latin typeface="微软雅黑" panose="020B0503020204020204" pitchFamily="34" charset="-122"/>
            </a:endParaRPr>
          </a:p>
          <a:p>
            <a:pPr marL="514350" indent="-514350" fontAlgn="auto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en-US" altLang="zh-CN" sz="3200" dirty="0">
                <a:latin typeface="微软雅黑" panose="020B0503020204020204" pitchFamily="34" charset="-122"/>
              </a:rPr>
              <a:t> B/S</a:t>
            </a:r>
            <a:r>
              <a:rPr kumimoji="0" lang="zh-CN" altLang="en-US" sz="3200" dirty="0">
                <a:latin typeface="微软雅黑" panose="020B0503020204020204" pitchFamily="34" charset="-122"/>
              </a:rPr>
              <a:t>结构</a:t>
            </a:r>
            <a:endParaRPr kumimoji="0" lang="en-US" altLang="zh-CN" sz="3200" dirty="0">
              <a:latin typeface="微软雅黑" panose="020B0503020204020204" pitchFamily="34" charset="-122"/>
            </a:endParaRPr>
          </a:p>
          <a:p>
            <a:pPr marL="514350" indent="-514350" fontAlgn="auto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3200" dirty="0">
                <a:latin typeface="微软雅黑" panose="020B0503020204020204" pitchFamily="34" charset="-122"/>
              </a:rPr>
              <a:t>使用语言和技术不限</a:t>
            </a:r>
          </a:p>
        </p:txBody>
      </p:sp>
    </p:spTree>
    <p:extLst>
      <p:ext uri="{BB962C8B-B14F-4D97-AF65-F5344CB8AC3E}">
        <p14:creationId xmlns:p14="http://schemas.microsoft.com/office/powerpoint/2010/main" val="3874915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0227CEB1-9F0D-4624-B107-89287F084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" y="252000"/>
            <a:ext cx="829899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  <a:sym typeface="+mn-ea"/>
              </a:rPr>
              <a:t>项目背景与目标</a:t>
            </a:r>
            <a:endParaRPr kumimoji="1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HarmonyOS Sans SC Medium" panose="00000600000000000000" pitchFamily="2" charset="-122"/>
              <a:ea typeface="HarmonyOS Sans SC Medium" panose="00000600000000000000" pitchFamily="2" charset="-122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3AFCE99-FDA9-4549-9C41-FE02CA4CEF77}"/>
              </a:ext>
            </a:extLst>
          </p:cNvPr>
          <p:cNvSpPr txBox="1">
            <a:spLocks/>
          </p:cNvSpPr>
          <p:nvPr/>
        </p:nvSpPr>
        <p:spPr>
          <a:xfrm>
            <a:off x="1476375" y="115888"/>
            <a:ext cx="6840538" cy="855662"/>
          </a:xfrm>
          <a:prstGeom prst="rect">
            <a:avLst/>
          </a:prstGeom>
        </p:spPr>
        <p:txBody>
          <a:bodyPr/>
          <a:lstStyle>
            <a:lvl1pPr algn="l" defTabSz="914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kumimoji="0" lang="zh-CN" altLang="en-US" sz="3600" b="1" dirty="0">
              <a:solidFill>
                <a:srgbClr val="CC0000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0366062-6618-49D8-97AE-C3E82E43D1AC}"/>
              </a:ext>
            </a:extLst>
          </p:cNvPr>
          <p:cNvSpPr txBox="1">
            <a:spLocks noChangeArrowheads="1"/>
          </p:cNvSpPr>
          <p:nvPr/>
        </p:nvSpPr>
        <p:spPr>
          <a:xfrm>
            <a:off x="104775" y="1107662"/>
            <a:ext cx="12259753" cy="5231699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70000"/>
              </a:lnSpc>
              <a:spcAft>
                <a:spcPts val="0"/>
              </a:spcAft>
              <a:buNone/>
            </a:pPr>
            <a:r>
              <a:rPr kumimoji="0" lang="zh-CN" altLang="en-US" sz="5000" dirty="0">
                <a:latin typeface="微软雅黑" panose="020B0503020204020204" pitchFamily="34" charset="-122"/>
              </a:rPr>
              <a:t>       </a:t>
            </a:r>
            <a:r>
              <a:rPr kumimoji="0" lang="zh-CN" altLang="en-US" sz="7600" dirty="0">
                <a:latin typeface="微软雅黑" panose="020B0503020204020204" pitchFamily="34" charset="-122"/>
              </a:rPr>
              <a:t>随着当代大学生面临学业、就业等多重压力，心理健康问题日益隐蔽且频发。传统的问卷式心理排查存在掩饰性强、滞后性大等缺陷。本系统旨在为高校心理咨询中心设计一套安全、亲和、智能的心理健康辅助交互界面，降低学生求助心理门槛，提升心理危机干预效率。</a:t>
            </a:r>
            <a:endParaRPr kumimoji="0" lang="en-US" altLang="zh-CN" sz="7600" dirty="0">
              <a:latin typeface="微软雅黑" panose="020B0503020204020204" pitchFamily="34" charset="-122"/>
            </a:endParaRP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endParaRPr kumimoji="0" lang="en-US" altLang="zh-CN" sz="5000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zh-CN" altLang="en-US" sz="7600" dirty="0">
                <a:solidFill>
                  <a:srgbClr val="FF0000"/>
                </a:solidFill>
                <a:latin typeface="微软雅黑" panose="020B0503020204020204" pitchFamily="34" charset="-122"/>
              </a:rPr>
              <a:t>项目目标</a:t>
            </a:r>
          </a:p>
          <a:p>
            <a:pPr marL="514350" indent="-514350" fontAlgn="auto">
              <a:lnSpc>
                <a:spcPct val="170000"/>
              </a:lnSpc>
              <a:spcAft>
                <a:spcPts val="0"/>
              </a:spcAft>
              <a:buAutoNum type="arabicPeriod"/>
            </a:pPr>
            <a:r>
              <a:rPr kumimoji="0" lang="zh-CN" altLang="en-US" sz="7600" dirty="0">
                <a:latin typeface="微软雅黑" panose="020B0503020204020204" pitchFamily="34" charset="-122"/>
              </a:rPr>
              <a:t>亲和力与去标签化设计：符合大学生审美与操作习惯，降低心理防御门槛，界面设计需具有舒缓、安全的情感暗示。</a:t>
            </a:r>
            <a:endParaRPr kumimoji="0" lang="en-US" altLang="zh-CN" sz="7600" dirty="0">
              <a:latin typeface="微软雅黑" panose="020B0503020204020204" pitchFamily="34" charset="-122"/>
            </a:endParaRPr>
          </a:p>
          <a:p>
            <a:pPr marL="514350" indent="-514350" fontAlgn="auto">
              <a:lnSpc>
                <a:spcPct val="170000"/>
              </a:lnSpc>
              <a:spcAft>
                <a:spcPts val="0"/>
              </a:spcAft>
              <a:buAutoNum type="arabicPeriod" startAt="2"/>
            </a:pPr>
            <a:r>
              <a:rPr kumimoji="0" lang="zh-CN" altLang="en-US" sz="7600" dirty="0">
                <a:latin typeface="微软雅黑" panose="020B0503020204020204" pitchFamily="34" charset="-122"/>
              </a:rPr>
              <a:t>多终端适配：</a:t>
            </a:r>
            <a:r>
              <a:rPr kumimoji="0" lang="zh-CN" altLang="en-US" sz="7600" dirty="0">
                <a:highlight>
                  <a:srgbClr val="FFFF00"/>
                </a:highlight>
                <a:latin typeface="微软雅黑" panose="020B0503020204020204" pitchFamily="34" charset="-122"/>
              </a:rPr>
              <a:t>支持</a:t>
            </a:r>
            <a:r>
              <a:rPr kumimoji="0" lang="en-US" altLang="zh-CN" sz="7600" dirty="0">
                <a:highlight>
                  <a:srgbClr val="FFFF00"/>
                </a:highlight>
                <a:latin typeface="微软雅黑" panose="020B0503020204020204" pitchFamily="34" charset="-122"/>
              </a:rPr>
              <a:t>PC</a:t>
            </a:r>
            <a:r>
              <a:rPr kumimoji="0" lang="zh-CN" altLang="en-US" sz="7600" dirty="0">
                <a:highlight>
                  <a:srgbClr val="FFFF00"/>
                </a:highlight>
                <a:latin typeface="微软雅黑" panose="020B0503020204020204" pitchFamily="34" charset="-122"/>
              </a:rPr>
              <a:t>端（心理咨询师</a:t>
            </a:r>
            <a:r>
              <a:rPr kumimoji="0" lang="en-US" altLang="zh-CN" sz="7600" dirty="0">
                <a:highlight>
                  <a:srgbClr val="FFFF00"/>
                </a:highlight>
                <a:latin typeface="微软雅黑" panose="020B0503020204020204" pitchFamily="34" charset="-122"/>
              </a:rPr>
              <a:t>/</a:t>
            </a:r>
            <a:r>
              <a:rPr kumimoji="0" lang="zh-CN" altLang="en-US" sz="7600" dirty="0">
                <a:highlight>
                  <a:srgbClr val="FFFF00"/>
                </a:highlight>
                <a:latin typeface="微软雅黑" panose="020B0503020204020204" pitchFamily="34" charset="-122"/>
              </a:rPr>
              <a:t>管理员）</a:t>
            </a:r>
            <a:r>
              <a:rPr kumimoji="0" lang="zh-CN" altLang="en-US" sz="7600" dirty="0">
                <a:latin typeface="微软雅黑" panose="020B0503020204020204" pitchFamily="34" charset="-122"/>
              </a:rPr>
              <a:t>、手机端（学生）、大屏端（学院心理态势脱敏数据看板）。</a:t>
            </a:r>
            <a:endParaRPr kumimoji="0" lang="en-US" altLang="zh-CN" sz="7600" dirty="0">
              <a:latin typeface="微软雅黑" panose="020B0503020204020204" pitchFamily="34" charset="-122"/>
            </a:endParaRPr>
          </a:p>
          <a:p>
            <a:pPr marL="514350" indent="-514350" fontAlgn="auto">
              <a:lnSpc>
                <a:spcPct val="170000"/>
              </a:lnSpc>
              <a:spcAft>
                <a:spcPts val="0"/>
              </a:spcAft>
              <a:buAutoNum type="arabicPeriod" startAt="3"/>
            </a:pPr>
            <a:r>
              <a:rPr kumimoji="0" lang="zh-CN" altLang="en-US" sz="7600" dirty="0">
                <a:latin typeface="微软雅黑" panose="020B0503020204020204" pitchFamily="34" charset="-122"/>
              </a:rPr>
              <a:t>智能化多模态交互：结合自然语言处理或语音情感计算，实现情绪智能感知、树洞匿名倾诉、危机自动预警等功能。</a:t>
            </a:r>
            <a:endParaRPr kumimoji="0" lang="en-US" altLang="zh-CN" sz="7600" dirty="0">
              <a:latin typeface="微软雅黑" panose="020B0503020204020204" pitchFamily="34" charset="-122"/>
            </a:endParaRPr>
          </a:p>
          <a:p>
            <a:pPr marL="0" indent="0" fontAlgn="auto">
              <a:lnSpc>
                <a:spcPct val="170000"/>
              </a:lnSpc>
              <a:spcAft>
                <a:spcPts val="0"/>
              </a:spcAft>
              <a:buNone/>
            </a:pPr>
            <a:r>
              <a:rPr kumimoji="0" lang="en-US" altLang="zh-CN" sz="7600" dirty="0">
                <a:latin typeface="微软雅黑" panose="020B0503020204020204" pitchFamily="34" charset="-122"/>
              </a:rPr>
              <a:t>4.   </a:t>
            </a:r>
            <a:r>
              <a:rPr kumimoji="0" lang="zh-CN" altLang="en-US" sz="7600" dirty="0">
                <a:latin typeface="微软雅黑" panose="020B0503020204020204" pitchFamily="34" charset="-122"/>
              </a:rPr>
              <a:t>数据可视化：直观展示心理健康趋势，辅助咨询师及学校决策。</a:t>
            </a:r>
            <a:br>
              <a:rPr lang="zh-CN" altLang="en-US" sz="7600" dirty="0"/>
            </a:br>
            <a:endParaRPr kumimoji="0" lang="zh-CN" altLang="en-US" sz="7600" dirty="0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87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0B876-1DAC-62E0-E316-9375C4598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9069E48-6839-A196-F653-448BED7E0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" y="252000"/>
            <a:ext cx="829899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anose="00000600000000000000" pitchFamily="2" charset="-122"/>
                <a:ea typeface="HarmonyOS Sans SC Medium" panose="00000600000000000000" pitchFamily="2" charset="-122"/>
                <a:cs typeface="+mn-cs"/>
                <a:sym typeface="+mn-ea"/>
              </a:rPr>
              <a:t>项目功能（可参考）</a:t>
            </a:r>
            <a:endParaRPr kumimoji="1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HarmonyOS Sans SC Medium" panose="00000600000000000000" pitchFamily="2" charset="-122"/>
              <a:ea typeface="HarmonyOS Sans SC Medium" panose="00000600000000000000" pitchFamily="2" charset="-122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DC40965-56B9-9BDD-E7BB-DB4EEADABA18}"/>
              </a:ext>
            </a:extLst>
          </p:cNvPr>
          <p:cNvSpPr txBox="1">
            <a:spLocks/>
          </p:cNvSpPr>
          <p:nvPr/>
        </p:nvSpPr>
        <p:spPr>
          <a:xfrm>
            <a:off x="1476375" y="115888"/>
            <a:ext cx="6840538" cy="855662"/>
          </a:xfrm>
          <a:prstGeom prst="rect">
            <a:avLst/>
          </a:prstGeom>
        </p:spPr>
        <p:txBody>
          <a:bodyPr/>
          <a:lstStyle>
            <a:lvl1pPr algn="l" defTabSz="914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kumimoji="0" lang="zh-CN" altLang="en-US" sz="3600" b="1" dirty="0">
              <a:solidFill>
                <a:srgbClr val="CC0000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D13CD03-CB45-B96A-C4AB-482555FBA49C}"/>
              </a:ext>
            </a:extLst>
          </p:cNvPr>
          <p:cNvSpPr txBox="1">
            <a:spLocks noChangeArrowheads="1"/>
          </p:cNvSpPr>
          <p:nvPr/>
        </p:nvSpPr>
        <p:spPr>
          <a:xfrm>
            <a:off x="-16625" y="911331"/>
            <a:ext cx="12085161" cy="5555971"/>
          </a:xfrm>
          <a:prstGeom prst="rect">
            <a:avLst/>
          </a:prstGeom>
        </p:spPr>
        <p:txBody>
          <a:bodyPr>
            <a:no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zh-CN" altLang="en-US" sz="1800" dirty="0">
                <a:highlight>
                  <a:srgbClr val="FFFF00"/>
                </a:highlight>
                <a:latin typeface="微软雅黑" panose="020B0503020204020204" pitchFamily="34" charset="-122"/>
              </a:rPr>
              <a:t>功能需求（核心模块）</a:t>
            </a:r>
            <a:endParaRPr kumimoji="0" lang="en-US" altLang="zh-CN" sz="1800" dirty="0">
              <a:highlight>
                <a:srgbClr val="FFFF00"/>
              </a:highlight>
              <a:latin typeface="微软雅黑" panose="020B0503020204020204" pitchFamily="34" charset="-122"/>
            </a:endParaRP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highlight>
                  <a:srgbClr val="FFFF00"/>
                </a:highlight>
              </a:rPr>
              <a:t>（</a:t>
            </a:r>
            <a:r>
              <a:rPr lang="en-US" altLang="zh-CN" sz="1400" dirty="0">
                <a:highlight>
                  <a:srgbClr val="FFFF00"/>
                </a:highlight>
              </a:rPr>
              <a:t>1</a:t>
            </a:r>
            <a:r>
              <a:rPr lang="zh-CN" altLang="en-US" sz="1400" dirty="0">
                <a:highlight>
                  <a:srgbClr val="FFFF00"/>
                </a:highlight>
              </a:rPr>
              <a:t>）用户注册与登录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注册功能</a:t>
            </a:r>
            <a:r>
              <a:rPr lang="zh-CN" altLang="en-US" sz="1400" dirty="0"/>
              <a:t>：支持学生用户通过学号、密码、昵称、联系方式等字段完成注册，前端使用</a:t>
            </a:r>
            <a:r>
              <a:rPr lang="en-US" altLang="zh-CN" sz="1400" dirty="0"/>
              <a:t>JavaScript</a:t>
            </a:r>
            <a:r>
              <a:rPr lang="zh-CN" altLang="en-US" sz="1400" dirty="0"/>
              <a:t>进行非空验证、密码强度验证（如长度、复杂度），后端验证学号唯一性并存储用户信息。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登录功能</a:t>
            </a:r>
            <a:r>
              <a:rPr lang="zh-CN" altLang="en-US" sz="1400" dirty="0"/>
              <a:t>：支持学号</a:t>
            </a:r>
            <a:r>
              <a:rPr lang="en-US" altLang="zh-CN" sz="1400" dirty="0"/>
              <a:t>+</a:t>
            </a:r>
            <a:r>
              <a:rPr lang="zh-CN" altLang="en-US" sz="1400" dirty="0"/>
              <a:t>密码登录，前端验证非空，后端验证凭据，成功后创建</a:t>
            </a:r>
            <a:r>
              <a:rPr lang="en-US" altLang="zh-CN" sz="1400" dirty="0"/>
              <a:t>Session</a:t>
            </a:r>
            <a:r>
              <a:rPr lang="zh-CN" altLang="en-US" sz="1400" dirty="0"/>
              <a:t>管理用户状态，提供“记住密码”选项（可选）。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个人信息管理</a:t>
            </a:r>
            <a:r>
              <a:rPr lang="zh-CN" altLang="en-US" sz="1400" dirty="0"/>
              <a:t>：用户可查看、修改个人基本信息（如昵称、联系方式），前端展示当前信息，支持修改并提交后端更新。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highlight>
                  <a:srgbClr val="FFFF00"/>
                </a:highlight>
              </a:rPr>
              <a:t>（</a:t>
            </a:r>
            <a:r>
              <a:rPr lang="en-US" altLang="zh-CN" sz="1400" dirty="0">
                <a:highlight>
                  <a:srgbClr val="FFFF00"/>
                </a:highlight>
              </a:rPr>
              <a:t>2</a:t>
            </a:r>
            <a:r>
              <a:rPr lang="zh-CN" altLang="en-US" sz="1400" dirty="0">
                <a:highlight>
                  <a:srgbClr val="FFFF00"/>
                </a:highlight>
              </a:rPr>
              <a:t>）心理测评功能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量表选择</a:t>
            </a:r>
            <a:r>
              <a:rPr lang="zh-CN" altLang="en-US" sz="1400" dirty="0"/>
              <a:t>：提供标准化心理量表（如</a:t>
            </a:r>
            <a:r>
              <a:rPr lang="en-US" altLang="zh-CN" sz="1400" dirty="0"/>
              <a:t>PHQ-9</a:t>
            </a:r>
            <a:r>
              <a:rPr lang="zh-CN" altLang="en-US" sz="1400" dirty="0"/>
              <a:t>抑郁量表、</a:t>
            </a:r>
            <a:r>
              <a:rPr lang="en-US" altLang="zh-CN" sz="1400" dirty="0"/>
              <a:t>GAD-7</a:t>
            </a:r>
            <a:r>
              <a:rPr lang="zh-CN" altLang="en-US" sz="1400" dirty="0"/>
              <a:t>焦虑量表），用户可选择参与测评。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答题流程</a:t>
            </a:r>
            <a:r>
              <a:rPr lang="zh-CN" altLang="en-US" sz="1400" dirty="0"/>
              <a:t>：量表题目以</a:t>
            </a:r>
            <a:r>
              <a:rPr lang="en-US" altLang="zh-CN" sz="1400" dirty="0"/>
              <a:t>HTML</a:t>
            </a:r>
            <a:r>
              <a:rPr lang="zh-CN" altLang="en-US" sz="1400" dirty="0"/>
              <a:t>表单形式展示，用户通过单选</a:t>
            </a:r>
            <a:r>
              <a:rPr lang="en-US" altLang="zh-CN" sz="1400" dirty="0"/>
              <a:t>/</a:t>
            </a:r>
            <a:r>
              <a:rPr lang="zh-CN" altLang="en-US" sz="1400" dirty="0"/>
              <a:t>多选按钮选择答案，前端实时或提交后计算得分。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结果展示</a:t>
            </a:r>
            <a:r>
              <a:rPr lang="zh-CN" altLang="en-US" sz="1400" dirty="0"/>
              <a:t>：根据得分区间生成初步建议（如“正常”“轻度焦虑”），前端动态展示结果，后端存储测评记录（学号、量表类型、得分、时间）。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highlight>
                  <a:srgbClr val="FFFF00"/>
                </a:highlight>
              </a:rPr>
              <a:t>（</a:t>
            </a:r>
            <a:r>
              <a:rPr lang="en-US" altLang="zh-CN" sz="1400" dirty="0">
                <a:highlight>
                  <a:srgbClr val="FFFF00"/>
                </a:highlight>
              </a:rPr>
              <a:t>3</a:t>
            </a:r>
            <a:r>
              <a:rPr lang="zh-CN" altLang="en-US" sz="1400" dirty="0">
                <a:highlight>
                  <a:srgbClr val="FFFF00"/>
                </a:highlight>
              </a:rPr>
              <a:t>）情绪感知与自适应交互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行为采集</a:t>
            </a:r>
            <a:r>
              <a:rPr lang="zh-CN" altLang="en-US" sz="1400" dirty="0"/>
              <a:t>：通过</a:t>
            </a:r>
            <a:r>
              <a:rPr lang="en-US" altLang="zh-CN" sz="1400" dirty="0"/>
              <a:t>JavaScript</a:t>
            </a:r>
            <a:r>
              <a:rPr lang="zh-CN" altLang="en-US" sz="1400" dirty="0"/>
              <a:t>监听</a:t>
            </a:r>
            <a:r>
              <a:rPr lang="en-US" altLang="zh-CN" sz="1400" dirty="0" err="1"/>
              <a:t>mousemove</a:t>
            </a:r>
            <a:r>
              <a:rPr lang="zh-CN" altLang="en-US" sz="1400" dirty="0"/>
              <a:t>（鼠标移动速度）、</a:t>
            </a:r>
            <a:r>
              <a:rPr lang="en-US" altLang="zh-CN" sz="1400" dirty="0"/>
              <a:t>click</a:t>
            </a:r>
            <a:r>
              <a:rPr lang="zh-CN" altLang="en-US" sz="1400" dirty="0"/>
              <a:t>（点击频率）、</a:t>
            </a:r>
            <a:r>
              <a:rPr lang="en-US" altLang="zh-CN" sz="1400" dirty="0" err="1"/>
              <a:t>keydown</a:t>
            </a:r>
            <a:r>
              <a:rPr lang="zh-CN" altLang="en-US" sz="1400" dirty="0"/>
              <a:t>（输入停顿）等事件，收集用户交互行为特征。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情绪推断</a:t>
            </a:r>
            <a:r>
              <a:rPr lang="zh-CN" altLang="en-US" sz="1400" dirty="0"/>
              <a:t>：基于采集的行为特征，采用轻量级规则（如“鼠标移动速度过快</a:t>
            </a:r>
            <a:r>
              <a:rPr lang="en-US" altLang="zh-CN" sz="1400" dirty="0"/>
              <a:t>+</a:t>
            </a:r>
            <a:r>
              <a:rPr lang="zh-CN" altLang="en-US" sz="1400" dirty="0"/>
              <a:t>点击频率高→焦虑”）推断情绪状态（平静、焦虑、低落）。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界面自适应</a:t>
            </a:r>
            <a:r>
              <a:rPr lang="zh-CN" altLang="en-US" sz="1400" dirty="0"/>
              <a:t>：根据情绪状态动态调整界面风格，如焦虑时降低动画频率、增大页面留白、切换为柔和配色；平静时保持默认风格。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endParaRPr kumimoji="0" lang="zh-CN" altLang="en-US" sz="1800" dirty="0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1102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69F7C-BCDE-0DD7-4751-7280A505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AFD06C5B-FD35-7C9B-7D72-6F741DD23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" y="252000"/>
            <a:ext cx="829899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anose="00000600000000000000" pitchFamily="2" charset="-122"/>
                <a:ea typeface="HarmonyOS Sans SC Medium" panose="00000600000000000000" pitchFamily="2" charset="-122"/>
                <a:cs typeface="+mn-cs"/>
                <a:sym typeface="+mn-ea"/>
              </a:rPr>
              <a:t>项目功能（可参考）</a:t>
            </a:r>
            <a:endParaRPr kumimoji="1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HarmonyOS Sans SC Medium" panose="00000600000000000000" pitchFamily="2" charset="-122"/>
              <a:ea typeface="HarmonyOS Sans SC Medium" panose="00000600000000000000" pitchFamily="2" charset="-122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7F4A869-F8DD-2851-BB82-DB582B5A4D95}"/>
              </a:ext>
            </a:extLst>
          </p:cNvPr>
          <p:cNvSpPr txBox="1">
            <a:spLocks/>
          </p:cNvSpPr>
          <p:nvPr/>
        </p:nvSpPr>
        <p:spPr>
          <a:xfrm>
            <a:off x="1476375" y="115888"/>
            <a:ext cx="6840538" cy="855662"/>
          </a:xfrm>
          <a:prstGeom prst="rect">
            <a:avLst/>
          </a:prstGeom>
        </p:spPr>
        <p:txBody>
          <a:bodyPr/>
          <a:lstStyle>
            <a:lvl1pPr algn="l" defTabSz="914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kumimoji="0" lang="zh-CN" altLang="en-US" sz="3600" b="1" dirty="0">
              <a:solidFill>
                <a:srgbClr val="CC0000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9AC4774-C986-41C3-AB25-33B22896EC4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27370"/>
            <a:ext cx="12085161" cy="5311992"/>
          </a:xfrm>
          <a:prstGeom prst="rect">
            <a:avLst/>
          </a:prstGeom>
        </p:spPr>
        <p:txBody>
          <a:bodyPr>
            <a:no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zh-CN" altLang="en-US" sz="1800" dirty="0">
                <a:highlight>
                  <a:srgbClr val="FFFF00"/>
                </a:highlight>
                <a:latin typeface="微软雅黑" panose="020B0503020204020204" pitchFamily="34" charset="-122"/>
              </a:rPr>
              <a:t>功能需求（核心模块）</a:t>
            </a:r>
            <a:endParaRPr kumimoji="0" lang="en-US" altLang="zh-CN" sz="1800" dirty="0">
              <a:highlight>
                <a:srgbClr val="FFFF00"/>
              </a:highlight>
              <a:latin typeface="微软雅黑" panose="020B0503020204020204" pitchFamily="34" charset="-122"/>
            </a:endParaRP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highlight>
                  <a:srgbClr val="FFFF00"/>
                </a:highlight>
              </a:rPr>
              <a:t>（</a:t>
            </a:r>
            <a:r>
              <a:rPr lang="en-US" altLang="zh-CN" sz="1400" dirty="0">
                <a:highlight>
                  <a:srgbClr val="FFFF00"/>
                </a:highlight>
              </a:rPr>
              <a:t>4</a:t>
            </a:r>
            <a:r>
              <a:rPr lang="zh-CN" altLang="en-US" sz="1400" dirty="0">
                <a:highlight>
                  <a:srgbClr val="FFFF00"/>
                </a:highlight>
              </a:rPr>
              <a:t>）心理咨询预约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排班展示：</a:t>
            </a:r>
            <a:r>
              <a:rPr lang="zh-CN" altLang="en-US" sz="1400" dirty="0"/>
              <a:t>以日历或列表形式展示咨询师排班信息（咨询师姓名、职称、可预约时段），前端通过</a:t>
            </a:r>
            <a:r>
              <a:rPr lang="en-US" altLang="zh-CN" sz="1400" dirty="0"/>
              <a:t>AJAX</a:t>
            </a:r>
            <a:r>
              <a:rPr lang="zh-CN" altLang="en-US" sz="1400" dirty="0"/>
              <a:t>异步请求获取数据。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预约流程：</a:t>
            </a:r>
            <a:r>
              <a:rPr lang="zh-CN" altLang="en-US" sz="1400" dirty="0"/>
              <a:t>用户选择可预约时段，提交预约请求，前端验证时段可用性，后端存储预约记录（学号、咨询师、时间）。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状态反馈：</a:t>
            </a:r>
            <a:r>
              <a:rPr lang="zh-CN" altLang="en-US" sz="1400" dirty="0"/>
              <a:t>预约成功后前端显示成功提示，用户可查看预约状态（如“已预约”“待确认”），支持取消预约（需验证权限）。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highlight>
                  <a:srgbClr val="FFFF00"/>
                </a:highlight>
              </a:rPr>
              <a:t>（</a:t>
            </a:r>
            <a:r>
              <a:rPr lang="en-US" altLang="zh-CN" sz="1400" dirty="0">
                <a:highlight>
                  <a:srgbClr val="FFFF00"/>
                </a:highlight>
              </a:rPr>
              <a:t>5</a:t>
            </a:r>
            <a:r>
              <a:rPr lang="zh-CN" altLang="en-US" sz="1400" dirty="0">
                <a:highlight>
                  <a:srgbClr val="FFFF00"/>
                </a:highlight>
              </a:rPr>
              <a:t>）移动端响应式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响应式设计：</a:t>
            </a:r>
            <a:r>
              <a:rPr lang="zh-CN" altLang="en-US" sz="1400" dirty="0"/>
              <a:t>使用</a:t>
            </a:r>
            <a:r>
              <a:rPr lang="en-US" altLang="zh-CN" sz="1400" dirty="0"/>
              <a:t>CSS</a:t>
            </a:r>
            <a:r>
              <a:rPr lang="zh-CN" altLang="en-US" sz="1400" dirty="0"/>
              <a:t>媒体查询（</a:t>
            </a:r>
            <a:r>
              <a:rPr lang="en-US" altLang="zh-CN" sz="1400" dirty="0"/>
              <a:t>@media</a:t>
            </a:r>
            <a:r>
              <a:rPr lang="zh-CN" altLang="en-US" sz="1400" dirty="0"/>
              <a:t>）和</a:t>
            </a:r>
            <a:r>
              <a:rPr lang="en-US" altLang="zh-CN" sz="1400" dirty="0"/>
              <a:t>Flexbox/Grid</a:t>
            </a:r>
            <a:r>
              <a:rPr lang="zh-CN" altLang="en-US" sz="1400" dirty="0"/>
              <a:t>布局，根据屏幕宽度调整界面元素布局（如导航栏从横向变为汉堡菜单、表单宽度占满屏幕）。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触控优化：</a:t>
            </a:r>
            <a:r>
              <a:rPr lang="zh-CN" altLang="en-US" sz="1400" dirty="0"/>
              <a:t>针对移动端优化按钮大小（≥</a:t>
            </a:r>
            <a:r>
              <a:rPr lang="en-US" altLang="zh-CN" sz="1400" dirty="0"/>
              <a:t>44px</a:t>
            </a:r>
            <a:r>
              <a:rPr lang="zh-CN" altLang="en-US" sz="1400" dirty="0"/>
              <a:t>）、间距，确保触控操作便捷。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兼容性：</a:t>
            </a:r>
            <a:r>
              <a:rPr lang="zh-CN" altLang="en-US" sz="1400" dirty="0"/>
              <a:t>确保系统在</a:t>
            </a:r>
            <a:r>
              <a:rPr lang="en-US" altLang="zh-CN" sz="1400" dirty="0"/>
              <a:t>PC</a:t>
            </a:r>
            <a:r>
              <a:rPr lang="zh-CN" altLang="en-US" sz="1400" dirty="0"/>
              <a:t>、平板、手机等主流浏览器（</a:t>
            </a:r>
            <a:r>
              <a:rPr lang="en-US" altLang="zh-CN" sz="1400" dirty="0"/>
              <a:t>Chrome</a:t>
            </a:r>
            <a:r>
              <a:rPr lang="zh-CN" altLang="en-US" sz="1400" dirty="0"/>
              <a:t>、</a:t>
            </a:r>
            <a:r>
              <a:rPr lang="en-US" altLang="zh-CN" sz="1400" dirty="0"/>
              <a:t>Edge</a:t>
            </a:r>
            <a:r>
              <a:rPr lang="zh-CN" altLang="en-US" sz="1400" dirty="0"/>
              <a:t>、</a:t>
            </a:r>
            <a:r>
              <a:rPr lang="en-US" altLang="zh-CN" sz="1400" dirty="0"/>
              <a:t>Safari</a:t>
            </a:r>
            <a:r>
              <a:rPr lang="zh-CN" altLang="en-US" sz="1400" dirty="0"/>
              <a:t>）上正常显示和交互。</a:t>
            </a:r>
            <a:br>
              <a:rPr lang="zh-CN" altLang="en-US" sz="1800" dirty="0"/>
            </a:br>
            <a:endParaRPr kumimoji="0" lang="zh-CN" altLang="en-US" sz="1800" dirty="0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2896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0227CEB1-9F0D-4624-B107-89287F084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" y="252000"/>
            <a:ext cx="829899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  <a:sym typeface="+mn-ea"/>
              </a:rPr>
              <a:t>大作业评分标准</a:t>
            </a:r>
            <a:endParaRPr kumimoji="1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HarmonyOS Sans SC Medium" panose="00000600000000000000" pitchFamily="2" charset="-122"/>
              <a:ea typeface="HarmonyOS Sans SC Medium" panose="00000600000000000000" pitchFamily="2" charset="-122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3AFCE99-FDA9-4549-9C41-FE02CA4CEF77}"/>
              </a:ext>
            </a:extLst>
          </p:cNvPr>
          <p:cNvSpPr txBox="1">
            <a:spLocks/>
          </p:cNvSpPr>
          <p:nvPr/>
        </p:nvSpPr>
        <p:spPr>
          <a:xfrm>
            <a:off x="1476375" y="115888"/>
            <a:ext cx="6840538" cy="855662"/>
          </a:xfrm>
          <a:prstGeom prst="rect">
            <a:avLst/>
          </a:prstGeom>
        </p:spPr>
        <p:txBody>
          <a:bodyPr/>
          <a:lstStyle>
            <a:lvl1pPr algn="l" defTabSz="914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kumimoji="0" lang="zh-CN" altLang="en-US" sz="3600" b="1" dirty="0">
              <a:solidFill>
                <a:srgbClr val="CC0000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0366062-6618-49D8-97AE-C3E82E43D1AC}"/>
              </a:ext>
            </a:extLst>
          </p:cNvPr>
          <p:cNvSpPr txBox="1">
            <a:spLocks noChangeArrowheads="1"/>
          </p:cNvSpPr>
          <p:nvPr/>
        </p:nvSpPr>
        <p:spPr>
          <a:xfrm>
            <a:off x="838418" y="1133589"/>
            <a:ext cx="10518338" cy="5231699"/>
          </a:xfrm>
          <a:prstGeom prst="rect">
            <a:avLst/>
          </a:prstGeom>
        </p:spPr>
        <p:txBody>
          <a:bodyPr>
            <a:norm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zh-CN" altLang="en-US" sz="3200" dirty="0">
                <a:latin typeface="微软雅黑" panose="020B0503020204020204" pitchFamily="34" charset="-122"/>
              </a:rPr>
              <a:t>评分标准（见文档）</a:t>
            </a:r>
          </a:p>
        </p:txBody>
      </p:sp>
    </p:spTree>
    <p:extLst>
      <p:ext uri="{BB962C8B-B14F-4D97-AF65-F5344CB8AC3E}">
        <p14:creationId xmlns:p14="http://schemas.microsoft.com/office/powerpoint/2010/main" val="2724526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0227CEB1-9F0D-4624-B107-89287F084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" y="252000"/>
            <a:ext cx="829899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  <a:sym typeface="+mn-ea"/>
              </a:rPr>
              <a:t>大作业提交方式</a:t>
            </a:r>
            <a:endParaRPr kumimoji="1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HarmonyOS Sans SC Medium" panose="00000600000000000000" pitchFamily="2" charset="-122"/>
              <a:ea typeface="HarmonyOS Sans SC Medium" panose="00000600000000000000" pitchFamily="2" charset="-122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3AFCE99-FDA9-4549-9C41-FE02CA4CEF77}"/>
              </a:ext>
            </a:extLst>
          </p:cNvPr>
          <p:cNvSpPr txBox="1">
            <a:spLocks/>
          </p:cNvSpPr>
          <p:nvPr/>
        </p:nvSpPr>
        <p:spPr>
          <a:xfrm>
            <a:off x="1476375" y="115888"/>
            <a:ext cx="6840538" cy="855662"/>
          </a:xfrm>
          <a:prstGeom prst="rect">
            <a:avLst/>
          </a:prstGeom>
        </p:spPr>
        <p:txBody>
          <a:bodyPr/>
          <a:lstStyle>
            <a:lvl1pPr algn="l" defTabSz="914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kumimoji="0" lang="zh-CN" altLang="en-US" sz="3600" b="1" dirty="0">
              <a:solidFill>
                <a:srgbClr val="CC0000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0366062-6618-49D8-97AE-C3E82E43D1AC}"/>
              </a:ext>
            </a:extLst>
          </p:cNvPr>
          <p:cNvSpPr txBox="1">
            <a:spLocks noChangeArrowheads="1"/>
          </p:cNvSpPr>
          <p:nvPr/>
        </p:nvSpPr>
        <p:spPr>
          <a:xfrm>
            <a:off x="838418" y="1133589"/>
            <a:ext cx="10518338" cy="5231699"/>
          </a:xfrm>
          <a:prstGeom prst="rect">
            <a:avLst/>
          </a:prstGeom>
        </p:spPr>
        <p:txBody>
          <a:bodyPr>
            <a:norm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zh-CN" altLang="en-US" sz="3200" dirty="0">
                <a:latin typeface="微软雅黑" panose="020B0503020204020204" pitchFamily="34" charset="-122"/>
              </a:rPr>
              <a:t>电子版</a:t>
            </a:r>
            <a:endParaRPr kumimoji="0" lang="en-US" altLang="zh-CN" sz="3200" dirty="0">
              <a:latin typeface="微软雅黑" panose="020B0503020204020204" pitchFamily="34" charset="-122"/>
            </a:endParaRPr>
          </a:p>
          <a:p>
            <a:pPr lvl="1" fontAlgn="auto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799" dirty="0">
                <a:latin typeface="微软雅黑" panose="020B0503020204020204" pitchFamily="34" charset="-122"/>
              </a:rPr>
              <a:t>提交到</a:t>
            </a:r>
            <a:r>
              <a:rPr kumimoji="0" lang="zh-CN" altLang="en-US" sz="2799" dirty="0">
                <a:solidFill>
                  <a:srgbClr val="FF0000"/>
                </a:solidFill>
                <a:latin typeface="微软雅黑" panose="020B0503020204020204" pitchFamily="34" charset="-122"/>
              </a:rPr>
              <a:t>各班学委</a:t>
            </a:r>
            <a:endParaRPr kumimoji="0" lang="en-US" altLang="zh-CN" sz="2799" dirty="0">
              <a:latin typeface="微软雅黑" panose="020B0503020204020204" pitchFamily="34" charset="-122"/>
            </a:endParaRPr>
          </a:p>
          <a:p>
            <a:pPr lvl="1" fontAlgn="auto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799" dirty="0">
                <a:latin typeface="微软雅黑" panose="020B0503020204020204" pitchFamily="34" charset="-122"/>
              </a:rPr>
              <a:t>代码源码（</a:t>
            </a:r>
            <a:r>
              <a:rPr kumimoji="0" lang="zh-CN" altLang="en-US" sz="2799" dirty="0">
                <a:solidFill>
                  <a:srgbClr val="FF0000"/>
                </a:solidFill>
                <a:latin typeface="微软雅黑" panose="020B0503020204020204" pitchFamily="34" charset="-122"/>
              </a:rPr>
              <a:t>整个工程</a:t>
            </a:r>
            <a:r>
              <a:rPr kumimoji="0" lang="zh-CN" altLang="en-US" sz="2799" dirty="0">
                <a:latin typeface="微软雅黑" panose="020B0503020204020204" pitchFamily="34" charset="-122"/>
              </a:rPr>
              <a:t>）</a:t>
            </a:r>
            <a:r>
              <a:rPr kumimoji="0" lang="en-US" altLang="zh-CN" sz="2799" dirty="0">
                <a:latin typeface="微软雅黑" panose="020B0503020204020204" pitchFamily="34" charset="-122"/>
              </a:rPr>
              <a:t>+</a:t>
            </a:r>
            <a:r>
              <a:rPr kumimoji="0" lang="zh-CN" altLang="en-US" sz="2799" dirty="0">
                <a:latin typeface="微软雅黑" panose="020B0503020204020204" pitchFamily="34" charset="-122"/>
              </a:rPr>
              <a:t>系统配置说明书</a:t>
            </a:r>
            <a:r>
              <a:rPr kumimoji="0" lang="en-US" altLang="zh-CN" sz="2799" dirty="0">
                <a:latin typeface="微软雅黑" panose="020B0503020204020204" pitchFamily="34" charset="-122"/>
              </a:rPr>
              <a:t>+</a:t>
            </a:r>
            <a:r>
              <a:rPr kumimoji="0" lang="zh-CN" altLang="en-US" sz="2799" dirty="0">
                <a:latin typeface="微软雅黑" panose="020B0503020204020204" pitchFamily="34" charset="-122"/>
              </a:rPr>
              <a:t>报告（</a:t>
            </a:r>
            <a:r>
              <a:rPr kumimoji="0" lang="en-US" altLang="zh-CN" sz="2799" dirty="0">
                <a:solidFill>
                  <a:srgbClr val="FF0000"/>
                </a:solidFill>
                <a:latin typeface="微软雅黑" panose="020B0503020204020204" pitchFamily="34" charset="-122"/>
              </a:rPr>
              <a:t>word</a:t>
            </a:r>
            <a:r>
              <a:rPr kumimoji="0" lang="zh-CN" altLang="en-US" sz="2799" dirty="0">
                <a:solidFill>
                  <a:srgbClr val="FF0000"/>
                </a:solidFill>
                <a:latin typeface="微软雅黑" panose="020B0503020204020204" pitchFamily="34" charset="-122"/>
              </a:rPr>
              <a:t>版本</a:t>
            </a:r>
            <a:r>
              <a:rPr kumimoji="0" lang="zh-CN" altLang="en-US" sz="2799" dirty="0">
                <a:latin typeface="微软雅黑" panose="020B0503020204020204" pitchFamily="34" charset="-122"/>
              </a:rPr>
              <a:t>）</a:t>
            </a:r>
            <a:endParaRPr kumimoji="0" lang="en-US" altLang="zh-CN" sz="2799" dirty="0">
              <a:latin typeface="微软雅黑" panose="020B0503020204020204" pitchFamily="34" charset="-122"/>
            </a:endParaRPr>
          </a:p>
          <a:p>
            <a:pPr lvl="1" fontAlgn="auto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799" dirty="0">
                <a:latin typeface="微软雅黑" panose="020B0503020204020204" pitchFamily="34" charset="-122"/>
              </a:rPr>
              <a:t>放到文件夹下</a:t>
            </a:r>
            <a:endParaRPr kumimoji="0" lang="en-US" altLang="zh-CN" sz="2799" dirty="0">
              <a:latin typeface="微软雅黑" panose="020B0503020204020204" pitchFamily="34" charset="-122"/>
            </a:endParaRPr>
          </a:p>
          <a:p>
            <a:pPr lvl="1" fontAlgn="auto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zh-CN" sz="2799" dirty="0">
                <a:latin typeface="微软雅黑" panose="020B0503020204020204" pitchFamily="34" charset="-122"/>
              </a:rPr>
              <a:t>大作业提交文件夹命名方式：班级</a:t>
            </a:r>
            <a:r>
              <a:rPr kumimoji="0" lang="en-US" altLang="zh-CN" sz="2799" dirty="0">
                <a:latin typeface="微软雅黑" panose="020B0503020204020204" pitchFamily="34" charset="-122"/>
              </a:rPr>
              <a:t>-</a:t>
            </a:r>
            <a:r>
              <a:rPr kumimoji="0" lang="zh-CN" altLang="zh-CN" sz="2799" dirty="0">
                <a:latin typeface="微软雅黑" panose="020B0503020204020204" pitchFamily="34" charset="-122"/>
              </a:rPr>
              <a:t>姓名</a:t>
            </a:r>
            <a:r>
              <a:rPr kumimoji="0" lang="en-US" altLang="zh-CN" sz="2799" dirty="0">
                <a:latin typeface="微软雅黑" panose="020B0503020204020204" pitchFamily="34" charset="-122"/>
              </a:rPr>
              <a:t>-</a:t>
            </a:r>
            <a:r>
              <a:rPr kumimoji="0" lang="zh-CN" altLang="zh-CN" sz="2799" dirty="0">
                <a:latin typeface="微软雅黑" panose="020B0503020204020204" pitchFamily="34" charset="-122"/>
              </a:rPr>
              <a:t>学号</a:t>
            </a:r>
            <a:endParaRPr kumimoji="0" lang="en-US" altLang="zh-CN" sz="2799" dirty="0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9933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0227CEB1-9F0D-4624-B107-89287F084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" y="252000"/>
            <a:ext cx="829899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  <a:sym typeface="+mn-ea"/>
              </a:rPr>
              <a:t>大作业提交时间</a:t>
            </a:r>
            <a:endParaRPr kumimoji="1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HarmonyOS Sans SC Medium" panose="00000600000000000000" pitchFamily="2" charset="-122"/>
              <a:ea typeface="HarmonyOS Sans SC Medium" panose="00000600000000000000" pitchFamily="2" charset="-122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3AFCE99-FDA9-4549-9C41-FE02CA4CEF77}"/>
              </a:ext>
            </a:extLst>
          </p:cNvPr>
          <p:cNvSpPr txBox="1">
            <a:spLocks/>
          </p:cNvSpPr>
          <p:nvPr/>
        </p:nvSpPr>
        <p:spPr>
          <a:xfrm>
            <a:off x="1476375" y="115888"/>
            <a:ext cx="6840538" cy="855662"/>
          </a:xfrm>
          <a:prstGeom prst="rect">
            <a:avLst/>
          </a:prstGeom>
        </p:spPr>
        <p:txBody>
          <a:bodyPr/>
          <a:lstStyle>
            <a:lvl1pPr algn="l" defTabSz="914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kumimoji="0" lang="zh-CN" altLang="en-US" sz="3600" b="1" dirty="0">
              <a:solidFill>
                <a:srgbClr val="CC0000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0366062-6618-49D8-97AE-C3E82E43D1AC}"/>
              </a:ext>
            </a:extLst>
          </p:cNvPr>
          <p:cNvSpPr txBox="1">
            <a:spLocks noChangeArrowheads="1"/>
          </p:cNvSpPr>
          <p:nvPr/>
        </p:nvSpPr>
        <p:spPr>
          <a:xfrm>
            <a:off x="542583" y="971550"/>
            <a:ext cx="10518338" cy="5231699"/>
          </a:xfrm>
          <a:prstGeom prst="rect">
            <a:avLst/>
          </a:prstGeom>
        </p:spPr>
        <p:txBody>
          <a:bodyPr>
            <a:norm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zh-CN" altLang="en-US" sz="3200" dirty="0">
                <a:latin typeface="微软雅黑" panose="020B0503020204020204" pitchFamily="34" charset="-122"/>
              </a:rPr>
              <a:t>提交时间</a:t>
            </a:r>
            <a:endParaRPr kumimoji="0" lang="en-US" altLang="zh-CN" sz="3200" dirty="0">
              <a:latin typeface="微软雅黑" panose="020B0503020204020204" pitchFamily="34" charset="-122"/>
            </a:endParaRPr>
          </a:p>
          <a:p>
            <a:pPr lvl="1" fontAlgn="auto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799" dirty="0">
                <a:latin typeface="微软雅黑" panose="020B0503020204020204" pitchFamily="34" charset="-122"/>
              </a:rPr>
              <a:t>大作业电子版提交时间：</a:t>
            </a:r>
            <a:r>
              <a:rPr kumimoji="0" lang="en-US" altLang="zh-CN" sz="2799" dirty="0">
                <a:solidFill>
                  <a:srgbClr val="FF0000"/>
                </a:solidFill>
                <a:latin typeface="微软雅黑" panose="020B0503020204020204" pitchFamily="34" charset="-122"/>
              </a:rPr>
              <a:t>18</a:t>
            </a:r>
            <a:r>
              <a:rPr kumimoji="0" lang="zh-CN" altLang="en-US" sz="2799" dirty="0">
                <a:solidFill>
                  <a:srgbClr val="FF0000"/>
                </a:solidFill>
                <a:latin typeface="微软雅黑" panose="020B0503020204020204" pitchFamily="34" charset="-122"/>
              </a:rPr>
              <a:t>周周三（</a:t>
            </a:r>
            <a:r>
              <a:rPr kumimoji="0" lang="en-US" altLang="zh-CN" sz="2799" dirty="0">
                <a:solidFill>
                  <a:srgbClr val="FF0000"/>
                </a:solidFill>
                <a:latin typeface="微软雅黑" panose="020B0503020204020204" pitchFamily="34" charset="-122"/>
              </a:rPr>
              <a:t>7</a:t>
            </a:r>
            <a:r>
              <a:rPr kumimoji="0" lang="zh-CN" altLang="en-US" sz="2799" dirty="0">
                <a:solidFill>
                  <a:srgbClr val="FF0000"/>
                </a:solidFill>
                <a:latin typeface="微软雅黑" panose="020B0503020204020204" pitchFamily="34" charset="-122"/>
              </a:rPr>
              <a:t>月</a:t>
            </a:r>
            <a:r>
              <a:rPr kumimoji="0" lang="en-US" altLang="zh-CN" sz="2799" dirty="0">
                <a:solidFill>
                  <a:srgbClr val="FF0000"/>
                </a:solidFill>
                <a:latin typeface="微软雅黑" panose="020B0503020204020204" pitchFamily="34" charset="-122"/>
              </a:rPr>
              <a:t>1</a:t>
            </a:r>
            <a:r>
              <a:rPr kumimoji="0" lang="zh-CN" altLang="en-US" sz="2799" dirty="0">
                <a:solidFill>
                  <a:srgbClr val="FF0000"/>
                </a:solidFill>
                <a:latin typeface="微软雅黑" panose="020B0503020204020204" pitchFamily="34" charset="-122"/>
              </a:rPr>
              <a:t>日晚上</a:t>
            </a:r>
            <a:r>
              <a:rPr kumimoji="0" lang="en-US" altLang="zh-CN" sz="2799" dirty="0">
                <a:solidFill>
                  <a:srgbClr val="FF0000"/>
                </a:solidFill>
                <a:latin typeface="微软雅黑" panose="020B0503020204020204" pitchFamily="34" charset="-122"/>
              </a:rPr>
              <a:t>24:00</a:t>
            </a:r>
            <a:r>
              <a:rPr kumimoji="0" lang="zh-CN" altLang="en-US" sz="2799" dirty="0">
                <a:solidFill>
                  <a:srgbClr val="FF0000"/>
                </a:solidFill>
                <a:latin typeface="微软雅黑" panose="020B0503020204020204" pitchFamily="34" charset="-122"/>
              </a:rPr>
              <a:t>之前）</a:t>
            </a:r>
          </a:p>
        </p:txBody>
      </p:sp>
    </p:spTree>
    <p:extLst>
      <p:ext uri="{BB962C8B-B14F-4D97-AF65-F5344CB8AC3E}">
        <p14:creationId xmlns:p14="http://schemas.microsoft.com/office/powerpoint/2010/main" val="1156756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09" name="图片 15" descr="内容页一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25" y="902495"/>
            <a:ext cx="12176125" cy="5928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FD168F8-19B5-4CED-9EC7-2FB119F08015}"/>
              </a:ext>
            </a:extLst>
          </p:cNvPr>
          <p:cNvSpPr/>
          <p:nvPr/>
        </p:nvSpPr>
        <p:spPr>
          <a:xfrm>
            <a:off x="4407171" y="2552547"/>
            <a:ext cx="4031873" cy="1314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0" dirty="0">
                <a:solidFill>
                  <a:srgbClr val="333333"/>
                </a:solidFill>
                <a:latin typeface="Helvetica Neue"/>
              </a:rPr>
              <a:t>感谢聆听！</a:t>
            </a:r>
            <a:endParaRPr lang="en-US" altLang="zh-CN" sz="6000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기본 디자인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6929</TotalTime>
  <Words>849</Words>
  <Application>Microsoft Office PowerPoint</Application>
  <PresentationFormat>自定义</PresentationFormat>
  <Paragraphs>52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Gulim</vt:lpstr>
      <vt:lpstr>HarmonyOS Sans SC Medium</vt:lpstr>
      <vt:lpstr>Helvetica Neue</vt:lpstr>
      <vt:lpstr>楷体_GB2312</vt:lpstr>
      <vt:lpstr>宋体</vt:lpstr>
      <vt:lpstr>微软雅黑</vt:lpstr>
      <vt:lpstr>Arial</vt:lpstr>
      <vt:lpstr>Arial Narrow</vt:lpstr>
      <vt:lpstr>Calibri</vt:lpstr>
      <vt:lpstr>Calibri Light</vt:lpstr>
      <vt:lpstr>Times New Roman</vt:lpstr>
      <vt:lpstr>Wingdings</vt:lpstr>
      <vt:lpstr>2_기본 디자인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贵阳医学院免疫学教研室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答辩幻灯</dc:title>
  <dc:creator>廉玮晟</dc:creator>
  <cp:lastModifiedBy>颖 陈</cp:lastModifiedBy>
  <cp:revision>2426</cp:revision>
  <dcterms:created xsi:type="dcterms:W3CDTF">2004-04-28T06:12:00Z</dcterms:created>
  <dcterms:modified xsi:type="dcterms:W3CDTF">2026-06-18T08:54:00Z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